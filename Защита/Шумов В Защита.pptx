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3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1728"/>
    <a:srgbClr val="33ABE0"/>
    <a:srgbClr val="10B8FF"/>
    <a:srgbClr val="31A9DF"/>
    <a:srgbClr val="32AADF"/>
    <a:srgbClr val="001E37"/>
    <a:srgbClr val="002837"/>
    <a:srgbClr val="001C2E"/>
    <a:srgbClr val="0014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0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Прямоугольный треугольник 8"/>
          <p:cNvSpPr/>
          <p:nvPr/>
        </p:nvSpPr>
        <p:spPr>
          <a:xfrm rot="10800000" flipV="1">
            <a:off x="-53975" y="11430"/>
            <a:ext cx="12245975" cy="6845935"/>
          </a:xfrm>
          <a:prstGeom prst="rtTriangle">
            <a:avLst/>
          </a:prstGeom>
          <a:solidFill>
            <a:srgbClr val="001C2E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ый треугольник 7"/>
          <p:cNvSpPr/>
          <p:nvPr/>
        </p:nvSpPr>
        <p:spPr>
          <a:xfrm>
            <a:off x="91440" y="0"/>
            <a:ext cx="12245975" cy="6846570"/>
          </a:xfrm>
          <a:prstGeom prst="rtTriangle">
            <a:avLst/>
          </a:prstGeom>
          <a:solidFill>
            <a:srgbClr val="001422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Равнобедренный треугольник 10"/>
          <p:cNvSpPr/>
          <p:nvPr/>
        </p:nvSpPr>
        <p:spPr>
          <a:xfrm>
            <a:off x="0" y="3490595"/>
            <a:ext cx="12246610" cy="3428365"/>
          </a:xfrm>
          <a:prstGeom prst="triangle">
            <a:avLst/>
          </a:prstGeom>
          <a:solidFill>
            <a:srgbClr val="001E37">
              <a:alpha val="8400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4970" y="2471420"/>
            <a:ext cx="11639550" cy="1267460"/>
          </a:xfrm>
        </p:spPr>
        <p:txBody>
          <a:bodyPr>
            <a:normAutofit fontScale="90000"/>
          </a:bodyPr>
          <a:p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Разработка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программных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модулей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telegram-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бота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для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решения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экзаменационных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билетов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ПДД</a:t>
            </a:r>
            <a:endParaRPr lang="en-US" altLang="en-US" sz="3110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8764905" y="4486275"/>
            <a:ext cx="3269615" cy="2065020"/>
          </a:xfrm>
        </p:spPr>
        <p:txBody>
          <a:bodyPr>
            <a:normAutofit/>
          </a:bodyPr>
          <a:p>
            <a:pPr algn="r"/>
            <a:r>
              <a:rPr lang="ru-RU" altLang="en-US" sz="1800" b="1">
                <a:solidFill>
                  <a:schemeClr val="bg1"/>
                </a:solidFill>
                <a:sym typeface="+mn-ea"/>
              </a:rPr>
              <a:t>Выполнил</a:t>
            </a:r>
            <a:r>
              <a:rPr lang="en-US" altLang="en-US" sz="1800">
                <a:solidFill>
                  <a:schemeClr val="bg1"/>
                </a:solidFill>
                <a:sym typeface="+mn-ea"/>
              </a:rPr>
              <a:t>:</a:t>
            </a:r>
            <a:endParaRPr lang="en-US" altLang="en-US" sz="1800">
              <a:solidFill>
                <a:schemeClr val="bg1"/>
              </a:solidFill>
            </a:endParaRPr>
          </a:p>
          <a:p>
            <a:pPr algn="r"/>
            <a:r>
              <a:rPr lang="ru-RU" altLang="en-US" sz="1800">
                <a:solidFill>
                  <a:schemeClr val="bg1"/>
                </a:solidFill>
                <a:sym typeface="+mn-ea"/>
              </a:rPr>
              <a:t>Шумов Владислав Михайлович</a:t>
            </a:r>
            <a:endParaRPr lang="ru-RU" altLang="en-US" sz="1800">
              <a:solidFill>
                <a:schemeClr val="bg1"/>
              </a:solidFill>
            </a:endParaRPr>
          </a:p>
          <a:p>
            <a:pPr algn="r"/>
            <a:r>
              <a:rPr lang="ru-RU" altLang="en-US" sz="1800">
                <a:solidFill>
                  <a:schemeClr val="bg1"/>
                </a:solidFill>
                <a:sym typeface="+mn-ea"/>
              </a:rPr>
              <a:t>ИСП.23.1А</a:t>
            </a:r>
            <a:endParaRPr lang="ru-RU" altLang="en-US" sz="1800">
              <a:solidFill>
                <a:schemeClr val="bg1"/>
              </a:solidFill>
              <a:sym typeface="+mn-ea"/>
            </a:endParaRPr>
          </a:p>
          <a:p>
            <a:pPr algn="r"/>
            <a:r>
              <a:rPr lang="ru-RU" altLang="en-US" sz="1800" b="1">
                <a:solidFill>
                  <a:schemeClr val="bg1"/>
                </a:solidFill>
              </a:rPr>
              <a:t>Преподаватель</a:t>
            </a:r>
            <a:r>
              <a:rPr lang="en-US" altLang="en-US" sz="1800" b="1">
                <a:solidFill>
                  <a:schemeClr val="bg1"/>
                </a:solidFill>
              </a:rPr>
              <a:t>: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r"/>
            <a:r>
              <a:rPr lang="ru-RU" altLang="en-US" sz="1800">
                <a:solidFill>
                  <a:schemeClr val="bg1"/>
                </a:solidFill>
              </a:rPr>
              <a:t>Кузьмина Елена Евгеньевна</a:t>
            </a:r>
            <a:endParaRPr lang="ru-RU" altLang="en-US" sz="1800">
              <a:solidFill>
                <a:schemeClr val="bg1"/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81990" y="1424940"/>
            <a:ext cx="11158220" cy="1046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00000"/>
              </a:lnSpc>
            </a:pPr>
            <a:r>
              <a:rPr lang="ru-RU" altLang="en-US" sz="311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Курсовой проект</a:t>
            </a:r>
            <a:br>
              <a:rPr lang="ru-RU" altLang="en-US" sz="311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</a:br>
            <a:r>
              <a:rPr lang="ru-RU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По МДК.01.01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Разработка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программных</a:t>
            </a:r>
            <a:r>
              <a:rPr lang="en-US" altLang="ru-RU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  <a:t>модулей</a:t>
            </a:r>
            <a:br>
              <a:rPr lang="en-US" altLang="en-US" sz="311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  <a:sym typeface="+mn-ea"/>
              </a:rPr>
            </a:br>
            <a:endParaRPr lang="en-US" altLang="en-US" sz="311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4660" y="253365"/>
            <a:ext cx="3623310" cy="709930"/>
          </a:xfrm>
        </p:spPr>
        <p:txBody>
          <a:bodyPr>
            <a:normAutofit fontScale="90000"/>
          </a:bodyPr>
          <a:p>
            <a:r>
              <a:rPr lang="ru-RU" altLang="en-US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Актуальность</a:t>
            </a:r>
            <a:endParaRPr lang="ru-RU" altLang="en-US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4660" y="1210310"/>
            <a:ext cx="6111240" cy="5123180"/>
          </a:xfrm>
        </p:spPr>
        <p:txBody>
          <a:bodyPr>
            <a:normAutofit/>
          </a:bodyPr>
          <a:p>
            <a:pPr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Актуальность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данного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проекта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заключается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в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том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,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что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подготовка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к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экзамену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по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ПДД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требует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постоянной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практики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и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регулярного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решения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билетов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.  Telegram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является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доступной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платформой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на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компьютерах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и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смартфонах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,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что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позволяет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проходить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тестирование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в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любом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месте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и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в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любое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время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.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Разработка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Telegram-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бота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делает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процесс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обучения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более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удобным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и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bg1"/>
                </a:solidFill>
                <a:cs typeface="Calibri Light" panose="020F0302020204030204" pitchFamily="34" charset="0"/>
              </a:rPr>
              <a:t>эффективным</a:t>
            </a:r>
            <a:r>
              <a:rPr lang="en-US" altLang="ru-RU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endParaRPr lang="en-US" altLang="ru-RU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7239000" y="1611630"/>
            <a:ext cx="4482465" cy="3634740"/>
          </a:xfrm>
          <a:prstGeom prst="rect">
            <a:avLst/>
          </a:prstGeom>
          <a:ln w="44450" cmpd="sng">
            <a:solidFill>
              <a:srgbClr val="33ABE0"/>
            </a:solidFill>
            <a:prstDash val="solid"/>
          </a:ln>
        </p:spPr>
      </p:pic>
      <p:pic>
        <p:nvPicPr>
          <p:cNvPr id="13" name="Изображение 12" descr="Telegram_Messeng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25" y="1356995"/>
            <a:ext cx="658495" cy="65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rd"/>
      </p:transition>
    </mc:Choice>
    <mc:Fallback>
      <p:transition spd="slow">
        <p:pull dir="rd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516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49415" y="1014730"/>
            <a:ext cx="4168775" cy="709930"/>
          </a:xfrm>
        </p:spPr>
        <p:txBody>
          <a:bodyPr>
            <a:normAutofit fontScale="90000"/>
          </a:bodyPr>
          <a:p>
            <a:r>
              <a:rPr lang="ru-RU" altLang="en-US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Цели и задачи</a:t>
            </a:r>
            <a:endParaRPr lang="ru-RU" altLang="en-US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62560" y="1901190"/>
            <a:ext cx="5717540" cy="2757170"/>
          </a:xfrm>
        </p:spPr>
        <p:txBody>
          <a:bodyPr>
            <a:normAutofit fontScale="90000"/>
          </a:bodyPr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ru-RU" altLang="ru-RU" sz="2800" b="1">
                <a:solidFill>
                  <a:schemeClr val="bg1"/>
                </a:solidFill>
                <a:cs typeface="Calibri Light" panose="020F0302020204030204" pitchFamily="34" charset="0"/>
              </a:rPr>
              <a:t>Задачи</a:t>
            </a:r>
            <a:r>
              <a:rPr lang="en-US" altLang="ru-RU" sz="2800" b="1">
                <a:solidFill>
                  <a:schemeClr val="bg1"/>
                </a:solidFill>
                <a:cs typeface="Calibri Light" panose="020F0302020204030204" pitchFamily="34" charset="0"/>
              </a:rPr>
              <a:t>:</a:t>
            </a:r>
            <a:endParaRPr lang="ru-RU" altLang="ru-RU" sz="2800" b="1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Реализовать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решение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билетов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тем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Реализовать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статистику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пользователя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Реализовать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систему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серии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Провести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тестирование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6096635" y="1455648"/>
            <a:ext cx="5754580" cy="3813582"/>
            <a:chOff x="10459" y="1135"/>
            <a:chExt cx="8087" cy="5372"/>
          </a:xfrm>
        </p:grpSpPr>
        <p:pic>
          <p:nvPicPr>
            <p:cNvPr id="7" name="Изображение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59" y="1514"/>
              <a:ext cx="7693" cy="4993"/>
            </a:xfrm>
            <a:prstGeom prst="rect">
              <a:avLst/>
            </a:prstGeom>
            <a:ln w="44450" cmpd="sng">
              <a:solidFill>
                <a:srgbClr val="32AADF"/>
              </a:solidFill>
              <a:prstDash val="solid"/>
            </a:ln>
          </p:spPr>
        </p:pic>
        <p:pic>
          <p:nvPicPr>
            <p:cNvPr id="13" name="Изображение 12" descr="Telegram_Messenge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09" y="1135"/>
              <a:ext cx="1037" cy="1037"/>
            </a:xfrm>
            <a:prstGeom prst="rect">
              <a:avLst/>
            </a:prstGeom>
          </p:spPr>
        </p:pic>
      </p:grpSp>
      <p:sp>
        <p:nvSpPr>
          <p:cNvPr id="8" name="Подзаголовок 4"/>
          <p:cNvSpPr>
            <a:spLocks noGrp="1"/>
          </p:cNvSpPr>
          <p:nvPr/>
        </p:nvSpPr>
        <p:spPr>
          <a:xfrm>
            <a:off x="162560" y="295910"/>
            <a:ext cx="7748905" cy="1605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ru-RU" altLang="en-US" sz="2800" b="1">
                <a:solidFill>
                  <a:schemeClr val="bg1"/>
                </a:solidFill>
                <a:cs typeface="Calibri Light" panose="020F0302020204030204" pitchFamily="34" charset="0"/>
              </a:rPr>
              <a:t>Цель</a:t>
            </a:r>
            <a:r>
              <a:rPr lang="en-US" altLang="en-US" sz="2800" b="1">
                <a:solidFill>
                  <a:schemeClr val="bg1"/>
                </a:solidFill>
                <a:cs typeface="Calibri Light" panose="020F0302020204030204" pitchFamily="34" charset="0"/>
              </a:rPr>
              <a:t>: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Разработка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Telegram-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бота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для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решения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экзаменационных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билетов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ПДД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u"/>
      </p:transition>
    </mc:Choice>
    <mc:Fallback>
      <p:transition spd="med">
        <p:pull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2560" y="334010"/>
            <a:ext cx="10149840" cy="671830"/>
          </a:xfrm>
        </p:spPr>
        <p:txBody>
          <a:bodyPr>
            <a:normAutofit fontScale="90000"/>
          </a:bodyPr>
          <a:p>
            <a:pPr algn="l"/>
            <a:r>
              <a:rPr lang="ru-RU" altLang="en-US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Функциональные требования</a:t>
            </a:r>
            <a:endParaRPr lang="ru-RU" altLang="en-US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62560" y="1680210"/>
            <a:ext cx="6652895" cy="4411980"/>
          </a:xfrm>
        </p:spPr>
        <p:txBody>
          <a:bodyPr>
            <a:noAutofit/>
          </a:bodyPr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Решение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билетов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ПДД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Решение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тем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ПДД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Режим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марафона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Просмотр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статистики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Накопления серии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Выбор с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лучайн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ого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билет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а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или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тем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ы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Сброс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статистики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15" name="Изображение 14"/>
          <p:cNvPicPr/>
          <p:nvPr/>
        </p:nvPicPr>
        <p:blipFill>
          <a:blip r:embed="rId1"/>
          <a:stretch>
            <a:fillRect/>
          </a:stretch>
        </p:blipFill>
        <p:spPr>
          <a:xfrm>
            <a:off x="6815455" y="1680210"/>
            <a:ext cx="4610100" cy="3886835"/>
          </a:xfrm>
          <a:prstGeom prst="rect">
            <a:avLst/>
          </a:prstGeom>
          <a:ln w="44450" cap="rnd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61995" y="346710"/>
            <a:ext cx="5668645" cy="671830"/>
          </a:xfrm>
        </p:spPr>
        <p:txBody>
          <a:bodyPr>
            <a:normAutofit fontScale="90000"/>
          </a:bodyPr>
          <a:p>
            <a:pPr algn="l"/>
            <a:r>
              <a:rPr lang="ru-RU" altLang="en-US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Сравнение с аналогами</a:t>
            </a:r>
            <a:endParaRPr lang="ru-RU" altLang="en-US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graphicFrame>
        <p:nvGraphicFramePr>
          <p:cNvPr id="6" name="Таблица 5"/>
          <p:cNvGraphicFramePr/>
          <p:nvPr>
            <p:custDataLst>
              <p:tags r:id="rId1"/>
            </p:custDataLst>
          </p:nvPr>
        </p:nvGraphicFramePr>
        <p:xfrm>
          <a:off x="1174750" y="1425575"/>
          <a:ext cx="9816465" cy="3926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695"/>
                <a:gridCol w="4087495"/>
                <a:gridCol w="3470275"/>
              </a:tblGrid>
              <a:tr h="9163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Критерий</a:t>
                      </a:r>
                      <a:endParaRPr lang="ru-RU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                 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            Экзамен ПДД 2026: билеты               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ru-RU" altLang="en-US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            </a:t>
                      </a:r>
                      <a:r>
                        <a:rPr lang="ru-RU" altLang="en-US"/>
                        <a:t>Телеграмм-бот</a:t>
                      </a:r>
                      <a:endParaRPr lang="ru-RU" altLang="en-US"/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Платформа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Мобильное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приложение </a:t>
                      </a:r>
                      <a:r>
                        <a:rPr lang="en-US" altLang="ru-RU"/>
                        <a:t>(Android)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/>
                        <a:t>Telegram</a:t>
                      </a:r>
                      <a:r>
                        <a:rPr lang="ru-RU" altLang="en-US"/>
                        <a:t> - </a:t>
                      </a:r>
                      <a:r>
                        <a:rPr lang="en-US" altLang="en-US"/>
                        <a:t>бот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кроссплатформенно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</a:tr>
              <a:tr h="549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Доступность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Требует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установки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устройство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Работает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</a:t>
                      </a:r>
                      <a:r>
                        <a:rPr lang="en-US" altLang="ru-RU"/>
                        <a:t> Telegram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любом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устройстве</a:t>
                      </a:r>
                      <a:endParaRPr lang="en-US" altLang="en-US"/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Статистика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800"/>
                        <a:t>   </a:t>
                      </a:r>
                      <a:r>
                        <a:rPr lang="ru-RU" altLang="en-US" sz="1800"/>
                        <a:t>Есть статистика успеваемости</a:t>
                      </a:r>
                      <a:endParaRPr lang="ru-RU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Есть статистика успеваемости</a:t>
                      </a:r>
                      <a:endParaRPr lang="ru-RU" altLang="en-US"/>
                    </a:p>
                  </a:txBody>
                  <a:tcPr/>
                </a:tc>
              </a:tr>
              <a:tr h="5448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Режимы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обучения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Прохождение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билетов</a:t>
                      </a:r>
                      <a:r>
                        <a:rPr lang="ru-RU" altLang="en-US"/>
                        <a:t>,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темы</a:t>
                      </a:r>
                      <a:r>
                        <a:rPr lang="ru-RU" altLang="en-US"/>
                        <a:t>, марафон и экзамен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Прохождение</a:t>
                      </a:r>
                      <a:r>
                        <a:rPr lang="en-US" altLang="ru-RU" sz="1800">
                          <a:sym typeface="+mn-ea"/>
                        </a:rPr>
                        <a:t> </a:t>
                      </a:r>
                      <a:r>
                        <a:rPr lang="en-US" altLang="en-US" sz="1800">
                          <a:sym typeface="+mn-ea"/>
                        </a:rPr>
                        <a:t>билетов</a:t>
                      </a:r>
                      <a:r>
                        <a:rPr lang="ru-RU" altLang="en-US" sz="1800">
                          <a:sym typeface="+mn-ea"/>
                        </a:rPr>
                        <a:t>,</a:t>
                      </a:r>
                      <a:r>
                        <a:rPr lang="en-US" altLang="ru-RU" sz="1800">
                          <a:sym typeface="+mn-ea"/>
                        </a:rPr>
                        <a:t> </a:t>
                      </a:r>
                      <a:r>
                        <a:rPr lang="en-US" altLang="en-US" sz="1800">
                          <a:sym typeface="+mn-ea"/>
                        </a:rPr>
                        <a:t>темы</a:t>
                      </a:r>
                      <a:r>
                        <a:rPr lang="ru-RU" altLang="en-US" sz="1800">
                          <a:sym typeface="+mn-ea"/>
                        </a:rPr>
                        <a:t>, марафон и случайный билет</a:t>
                      </a:r>
                      <a:endParaRPr lang="en-US" altLang="en-US"/>
                    </a:p>
                  </a:txBody>
                  <a:tcPr/>
                </a:tc>
              </a:tr>
              <a:tr h="5454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Мотивация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Нет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мотивационной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системы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Система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серии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активности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Изображение 13" descr="78fce58d-dec1-46bf-b01e-fecb7c609c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55" y="1500505"/>
            <a:ext cx="701040" cy="701040"/>
          </a:xfrm>
          <a:prstGeom prst="rect">
            <a:avLst/>
          </a:prstGeom>
        </p:spPr>
      </p:pic>
      <p:pic>
        <p:nvPicPr>
          <p:cNvPr id="16" name="Изображение 15" descr="Без названия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055" y="1537970"/>
            <a:ext cx="641350" cy="641350"/>
          </a:xfrm>
          <a:prstGeom prst="rect">
            <a:avLst/>
          </a:prstGeom>
        </p:spPr>
      </p:pic>
      <p:pic>
        <p:nvPicPr>
          <p:cNvPr id="49" name="Изображение 48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770" y="2459990"/>
            <a:ext cx="510540" cy="419100"/>
          </a:xfrm>
          <a:prstGeom prst="rect">
            <a:avLst/>
          </a:prstGeom>
        </p:spPr>
      </p:pic>
      <p:pic>
        <p:nvPicPr>
          <p:cNvPr id="50" name="Изображение 49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640" y="3276600"/>
            <a:ext cx="370840" cy="304800"/>
          </a:xfrm>
          <a:prstGeom prst="rect">
            <a:avLst/>
          </a:prstGeom>
        </p:spPr>
      </p:pic>
      <p:pic>
        <p:nvPicPr>
          <p:cNvPr id="51" name="Изображение 50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751580"/>
            <a:ext cx="370840" cy="304800"/>
          </a:xfrm>
          <a:prstGeom prst="rect">
            <a:avLst/>
          </a:prstGeom>
        </p:spPr>
      </p:pic>
      <p:pic>
        <p:nvPicPr>
          <p:cNvPr id="52" name="Изображение 51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290" y="3749675"/>
            <a:ext cx="370840" cy="304800"/>
          </a:xfrm>
          <a:prstGeom prst="rect">
            <a:avLst/>
          </a:prstGeom>
        </p:spPr>
      </p:pic>
      <p:pic>
        <p:nvPicPr>
          <p:cNvPr id="53" name="Изображение 52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260" y="4457065"/>
            <a:ext cx="370840" cy="304800"/>
          </a:xfrm>
          <a:prstGeom prst="rect">
            <a:avLst/>
          </a:prstGeom>
        </p:spPr>
      </p:pic>
      <p:pic>
        <p:nvPicPr>
          <p:cNvPr id="54" name="Изображение 53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5" y="4344670"/>
            <a:ext cx="370840" cy="304800"/>
          </a:xfrm>
          <a:prstGeom prst="rect">
            <a:avLst/>
          </a:prstGeom>
        </p:spPr>
      </p:pic>
      <p:pic>
        <p:nvPicPr>
          <p:cNvPr id="55" name="Изображение 54" descr="zelenaja-galochka-256x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5" y="4928870"/>
            <a:ext cx="370840" cy="304800"/>
          </a:xfrm>
          <a:prstGeom prst="rect">
            <a:avLst/>
          </a:prstGeom>
        </p:spPr>
      </p:pic>
      <p:pic>
        <p:nvPicPr>
          <p:cNvPr id="56" name="Изображение 55" descr="63684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450" y="4874260"/>
            <a:ext cx="413385" cy="413385"/>
          </a:xfrm>
          <a:prstGeom prst="rect">
            <a:avLst/>
          </a:prstGeom>
        </p:spPr>
      </p:pic>
      <p:pic>
        <p:nvPicPr>
          <p:cNvPr id="57" name="Изображение 56" descr="63684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35" y="3081655"/>
            <a:ext cx="413385" cy="413385"/>
          </a:xfrm>
          <a:prstGeom prst="rect">
            <a:avLst/>
          </a:prstGeom>
        </p:spPr>
      </p:pic>
      <p:pic>
        <p:nvPicPr>
          <p:cNvPr id="58" name="Изображение 57" descr="63684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35" y="2413635"/>
            <a:ext cx="413385" cy="413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lu"/>
      </p:transition>
    </mc:Choice>
    <mc:Fallback>
      <p:transition spd="slow">
        <p:pull dir="l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5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2560" y="334010"/>
            <a:ext cx="10149840" cy="671830"/>
          </a:xfrm>
        </p:spPr>
        <p:txBody>
          <a:bodyPr>
            <a:normAutofit fontScale="90000"/>
          </a:bodyPr>
          <a:p>
            <a:pPr algn="l"/>
            <a:r>
              <a:rPr lang="ru-RU" altLang="en-US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Архитектура бота</a:t>
            </a:r>
            <a:endParaRPr lang="ru-RU" altLang="en-US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62560" y="1223010"/>
            <a:ext cx="6652895" cy="5421630"/>
          </a:xfrm>
        </p:spPr>
        <p:txBody>
          <a:bodyPr>
            <a:noAutofit/>
          </a:bodyPr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Бот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состоит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из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следующих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модулей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:</a:t>
            </a:r>
            <a:endParaRPr lang="en-US" altLang="ru-RU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endParaRPr lang="en-US" altLang="ru-RU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handlers –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обработчики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команд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keyboards –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клавиатуры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database –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работа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с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базой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данных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utils –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вспомогательные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функции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requests - sql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-запросы</a:t>
            </a:r>
            <a:endParaRPr lang="en-US" altLang="ru-RU" sz="3100">
              <a:solidFill>
                <a:schemeClr val="bg1"/>
              </a:solidFill>
              <a:cs typeface="Calibri Light" panose="020F0302020204030204" pitchFamily="34" charset="0"/>
              <a:sym typeface="+mn-ea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main.py –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точка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входа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85" y="0"/>
            <a:ext cx="2697480" cy="685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96870" y="203835"/>
            <a:ext cx="6397625" cy="671830"/>
          </a:xfrm>
        </p:spPr>
        <p:txBody>
          <a:bodyPr>
            <a:normAutofit fontScale="90000"/>
          </a:bodyPr>
          <a:p>
            <a:pPr algn="l"/>
            <a:r>
              <a:rPr lang="ru-RU" altLang="en-US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Используемые технологии</a:t>
            </a:r>
            <a:endParaRPr lang="ru-RU" altLang="en-US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162560" y="991870"/>
            <a:ext cx="10289540" cy="5421630"/>
          </a:xfrm>
        </p:spPr>
        <p:txBody>
          <a:bodyPr>
            <a:noAutofit/>
          </a:bodyPr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Язык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программирования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 -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Python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Фреймворк для работы с 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Telegram API - aiogram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База данных -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PostgreSQL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• 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</a:rPr>
              <a:t>Фреймворк для асинхронного програмирования - 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</a:rPr>
              <a:t>Asyncio </a:t>
            </a:r>
            <a:endParaRPr lang="en-US" altLang="ru-RU" sz="31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</a:t>
            </a:r>
            <a:r>
              <a:rPr lang="ru-RU" altLang="en-US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 Фреймворк для работы с </a:t>
            </a:r>
            <a:r>
              <a:rPr lang="en-US" altLang="en-US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PostgreSQL - </a:t>
            </a:r>
            <a:r>
              <a:rPr lang="en-US" altLang="ru-RU" sz="31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asyncpg</a:t>
            </a:r>
            <a:endParaRPr lang="en-US" altLang="en-US" sz="31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8" name="Изображение 7" descr="Python-logo-notext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0760000">
            <a:off x="640715" y="4196080"/>
            <a:ext cx="2254885" cy="2254885"/>
          </a:xfrm>
          <a:prstGeom prst="rect">
            <a:avLst/>
          </a:prstGeom>
        </p:spPr>
      </p:pic>
      <p:pic>
        <p:nvPicPr>
          <p:cNvPr id="10" name="Изображение 9" descr="Postgresql_elephant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125720" y="4338955"/>
            <a:ext cx="2175510" cy="2244090"/>
          </a:xfrm>
          <a:prstGeom prst="rect">
            <a:avLst/>
          </a:prstGeom>
        </p:spPr>
      </p:pic>
      <p:pic>
        <p:nvPicPr>
          <p:cNvPr id="12" name="Изображение 11" descr="337848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9813925" y="4508500"/>
            <a:ext cx="1905000" cy="190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u"/>
      </p:transition>
    </mc:Choice>
    <mc:Fallback>
      <p:transition spd="med">
        <p:pull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1182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45" y="2428240"/>
            <a:ext cx="2532380" cy="1849755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496435" y="203835"/>
            <a:ext cx="3198495" cy="671830"/>
          </a:xfrm>
        </p:spPr>
        <p:txBody>
          <a:bodyPr>
            <a:normAutofit fontScale="90000"/>
          </a:bodyPr>
          <a:p>
            <a:pPr algn="l"/>
            <a:r>
              <a:rPr lang="ru-RU" altLang="ru-RU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База данных</a:t>
            </a:r>
            <a:endParaRPr lang="ru-RU" altLang="ru-RU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pic>
        <p:nvPicPr>
          <p:cNvPr id="10" name="Изображение 9" descr="Postgresql_elephant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2607945" y="2146300"/>
            <a:ext cx="771525" cy="79565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665" y="1077595"/>
            <a:ext cx="8028940" cy="495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r"/>
      </p:transition>
    </mc:Choice>
    <mc:Fallback>
      <p:transition spd="med">
        <p:pull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156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3065" y="203835"/>
            <a:ext cx="3530600" cy="671830"/>
          </a:xfrm>
        </p:spPr>
        <p:txBody>
          <a:bodyPr>
            <a:normAutofit fontScale="90000"/>
          </a:bodyPr>
          <a:p>
            <a:pPr algn="l"/>
            <a:r>
              <a:rPr lang="ru-RU" altLang="ru-RU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Реализация</a:t>
            </a:r>
            <a:endParaRPr lang="ru-RU" altLang="ru-RU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13" name="Подзаголовок 12"/>
          <p:cNvSpPr>
            <a:spLocks noGrp="1"/>
          </p:cNvSpPr>
          <p:nvPr>
            <p:ph type="subTitle" idx="1"/>
          </p:nvPr>
        </p:nvSpPr>
        <p:spPr>
          <a:xfrm>
            <a:off x="393065" y="1122045"/>
            <a:ext cx="9381490" cy="2259965"/>
          </a:xfrm>
        </p:spPr>
        <p:txBody>
          <a:bodyPr>
            <a:noAutofit/>
          </a:bodyPr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В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программе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реализован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модуль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StreakManager,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который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отвечает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за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подсчёт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серии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решений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пользователя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Если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пользователь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решает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тесты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каждый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день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,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серия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увеличивается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,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если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пропускает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день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—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обнуляется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635" y="3602990"/>
            <a:ext cx="4289425" cy="2940685"/>
          </a:xfrm>
          <a:prstGeom prst="rect">
            <a:avLst/>
          </a:prstGeom>
          <a:ln w="44450">
            <a:solidFill>
              <a:srgbClr val="33ABE0"/>
            </a:solidFill>
          </a:ln>
        </p:spPr>
      </p:pic>
      <p:pic>
        <p:nvPicPr>
          <p:cNvPr id="16" name="Изображение 15" descr="Telegram_Messeng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065" y="3276600"/>
            <a:ext cx="672465" cy="672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140" y="102870"/>
            <a:ext cx="5549900" cy="517525"/>
          </a:xfrm>
        </p:spPr>
        <p:txBody>
          <a:bodyPr>
            <a:normAutofit fontScale="90000"/>
          </a:bodyPr>
          <a:p>
            <a:pPr algn="l"/>
            <a:r>
              <a:rPr lang="ru-RU" altLang="ru-RU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Функция </a:t>
            </a:r>
            <a:r>
              <a:rPr lang="en-US" altLang="ru-RU" sz="40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check_streak</a:t>
            </a:r>
            <a:endParaRPr lang="en-US" altLang="ru-RU" sz="40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305" y="721360"/>
            <a:ext cx="8074025" cy="5688965"/>
          </a:xfrm>
          <a:prstGeom prst="rect">
            <a:avLst/>
          </a:prstGeom>
          <a:ln w="28575">
            <a:solidFill>
              <a:srgbClr val="10B8FF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ru"/>
      </p:transition>
    </mc:Choice>
    <mc:Fallback>
      <p:transition spd="slow">
        <p:pull dir="r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04825" y="2030095"/>
            <a:ext cx="2927985" cy="1398905"/>
          </a:xfrm>
        </p:spPr>
        <p:txBody>
          <a:bodyPr>
            <a:normAutofit fontScale="90000"/>
          </a:bodyPr>
          <a:p>
            <a:pPr algn="ctr"/>
            <a:r>
              <a:rPr lang="ru-RU" altLang="ru-RU" sz="32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Функция</a:t>
            </a:r>
            <a:br>
              <a:rPr lang="ru-RU" altLang="ru-RU" sz="32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</a:br>
            <a:r>
              <a:rPr lang="en-US" altLang="ru-RU" sz="32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update_streak</a:t>
            </a:r>
            <a:endParaRPr lang="en-US" altLang="ru-RU" sz="32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3210" y="109220"/>
            <a:ext cx="7974965" cy="6607175"/>
          </a:xfrm>
          <a:prstGeom prst="rect">
            <a:avLst/>
          </a:prstGeom>
          <a:ln w="28575">
            <a:solidFill>
              <a:srgbClr val="10B8FF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d"/>
      </p:transition>
    </mc:Choice>
    <mc:Fallback>
      <p:transition spd="med">
        <p:pull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1805" y="201295"/>
            <a:ext cx="5102225" cy="625475"/>
          </a:xfrm>
        </p:spPr>
        <p:txBody>
          <a:bodyPr>
            <a:normAutofit fontScale="90000"/>
          </a:bodyPr>
          <a:p>
            <a:pPr algn="l"/>
            <a:r>
              <a:rPr lang="ru-RU" sz="32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Модульное тестирование</a:t>
            </a:r>
            <a:endParaRPr lang="ru-RU" sz="32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05" y="899795"/>
            <a:ext cx="11249025" cy="3147695"/>
          </a:xfrm>
          <a:prstGeom prst="rect">
            <a:avLst/>
          </a:prstGeom>
          <a:ln w="28575" cmpd="sng">
            <a:solidFill>
              <a:srgbClr val="31A9DF"/>
            </a:solidFill>
            <a:prstDash val="solid"/>
          </a:ln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430" y="2577465"/>
            <a:ext cx="4152900" cy="3735070"/>
          </a:xfrm>
          <a:prstGeom prst="rect">
            <a:avLst/>
          </a:prstGeom>
          <a:ln w="28575">
            <a:solidFill>
              <a:srgbClr val="10B8FF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d"/>
      </p:transition>
    </mc:Choice>
    <mc:Fallback>
      <p:transition spd="med">
        <p:pull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>
          <a:xfrm>
            <a:off x="471805" y="201295"/>
            <a:ext cx="5102225" cy="625475"/>
          </a:xfrm>
        </p:spPr>
        <p:txBody>
          <a:bodyPr>
            <a:normAutofit fontScale="90000"/>
          </a:bodyPr>
          <a:p>
            <a:pPr algn="l"/>
            <a:r>
              <a:rPr lang="ru-RU" sz="3200" b="1">
                <a:solidFill>
                  <a:schemeClr val="bg1"/>
                </a:solidFill>
                <a:effectLst/>
                <a:latin typeface="Lucida Sans Unicode" panose="020B0602030504020204" charset="0"/>
                <a:cs typeface="Lucida Sans Unicode" panose="020B0602030504020204" charset="0"/>
              </a:rPr>
              <a:t>Перспективы развития</a:t>
            </a:r>
            <a:endParaRPr lang="ru-RU" sz="3200" b="1">
              <a:solidFill>
                <a:schemeClr val="bg1"/>
              </a:solidFill>
              <a:effectLst/>
              <a:latin typeface="Lucida Sans Unicode" panose="020B0602030504020204" charset="0"/>
              <a:cs typeface="Lucida Sans Unicode" panose="020B0602030504020204" charset="0"/>
            </a:endParaRPr>
          </a:p>
        </p:txBody>
      </p:sp>
      <p:sp>
        <p:nvSpPr>
          <p:cNvPr id="13" name="Подзаголовок 12"/>
          <p:cNvSpPr>
            <a:spLocks noGrp="1"/>
          </p:cNvSpPr>
          <p:nvPr>
            <p:ph type="subTitle" idx="1"/>
          </p:nvPr>
        </p:nvSpPr>
        <p:spPr>
          <a:xfrm>
            <a:off x="393065" y="1122045"/>
            <a:ext cx="9381490" cy="4750435"/>
          </a:xfrm>
        </p:spPr>
        <p:txBody>
          <a:bodyPr>
            <a:noAutofit/>
          </a:bodyPr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ru-RU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В будущих обновления можно реализовать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:</a:t>
            </a:r>
            <a:endParaRPr lang="en-US" altLang="en-US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Система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рейтинга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пользователей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–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рейтинг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по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серии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или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успешности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прохождения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Дополнительные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мотивационные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функции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–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награды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,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достижения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,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напоминания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Персональные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рекомендации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–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какие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темы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отработать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сильнее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  <a:sym typeface="+mn-ea"/>
              </a:rPr>
              <a:t>•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Тестирование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в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режиме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«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экзамен</a:t>
            </a:r>
            <a:r>
              <a:rPr lang="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»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–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имитация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настоящего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экзамена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с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таймером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cs typeface="Calibri Light" panose="020F0302020204030204" pitchFamily="34" charset="0"/>
              </a:rPr>
              <a:t>результатами</a:t>
            </a:r>
            <a:r>
              <a:rPr lang="en-US" altLang="ru-RU" sz="280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  <a:endParaRPr lang="en-US" altLang="ru-RU" sz="280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d"/>
      </p:transition>
    </mc:Choice>
    <mc:Fallback>
      <p:transition spd="med">
        <p:pull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43095" y="258445"/>
            <a:ext cx="2924175" cy="1325880"/>
          </a:xfrm>
        </p:spPr>
        <p:txBody>
          <a:bodyPr>
            <a:normAutofit fontScale="90000"/>
          </a:bodyPr>
          <a:p>
            <a:r>
              <a:rPr lang="ru-RU" altLang="en-US">
                <a:solidFill>
                  <a:schemeClr val="bg1"/>
                </a:solidFill>
              </a:rPr>
              <a:t>Заключение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2608580"/>
          </a:xfrm>
        </p:spPr>
        <p:txBody>
          <a:bodyPr/>
          <a:p>
            <a:pPr algn="ctr"/>
            <a:r>
              <a:rPr lang="ru-RU" altLang="en-US">
                <a:solidFill>
                  <a:schemeClr val="bg1"/>
                </a:solidFill>
              </a:rPr>
              <a:t>Б</a:t>
            </a:r>
            <a:r>
              <a:rPr lang="en-US" altLang="en-US">
                <a:solidFill>
                  <a:schemeClr val="bg1"/>
                </a:solidFill>
              </a:rPr>
              <a:t>ыла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разработана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система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для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решения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экзаменационных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билетов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ПДД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виде</a:t>
            </a:r>
            <a:r>
              <a:rPr lang="en-US" altLang="ru-RU">
                <a:solidFill>
                  <a:schemeClr val="bg1"/>
                </a:solidFill>
              </a:rPr>
              <a:t> Telegram</a:t>
            </a:r>
            <a:r>
              <a:rPr lang="ru-RU" altLang="en-US">
                <a:solidFill>
                  <a:schemeClr val="bg1"/>
                </a:solidFill>
              </a:rPr>
              <a:t> </a:t>
            </a:r>
            <a:r>
              <a:rPr lang="en-US" altLang="ru-RU">
                <a:solidFill>
                  <a:schemeClr val="bg1"/>
                </a:solidFill>
              </a:rPr>
              <a:t>‑</a:t>
            </a:r>
            <a:r>
              <a:rPr lang="en-US" altLang="en-US">
                <a:solidFill>
                  <a:schemeClr val="bg1"/>
                </a:solidFill>
              </a:rPr>
              <a:t>бота</a:t>
            </a:r>
            <a:r>
              <a:rPr lang="en-US" altLang="ru-RU">
                <a:solidFill>
                  <a:schemeClr val="bg1"/>
                </a:solidFill>
              </a:rPr>
              <a:t>. </a:t>
            </a:r>
            <a:r>
              <a:rPr lang="en-US" altLang="en-US">
                <a:solidFill>
                  <a:schemeClr val="bg1"/>
                </a:solidFill>
              </a:rPr>
              <a:t>Все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поставленные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задачи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выполнены</a:t>
            </a:r>
            <a:r>
              <a:rPr lang="en-US" altLang="ru-RU">
                <a:solidFill>
                  <a:schemeClr val="bg1"/>
                </a:solidFill>
              </a:rPr>
              <a:t>: </a:t>
            </a:r>
            <a:r>
              <a:rPr lang="en-US" altLang="en-US">
                <a:solidFill>
                  <a:schemeClr val="bg1"/>
                </a:solidFill>
              </a:rPr>
              <a:t>реализованы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прохождение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билетов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тем</a:t>
            </a:r>
            <a:r>
              <a:rPr lang="en-US" altLang="ru-RU">
                <a:solidFill>
                  <a:schemeClr val="bg1"/>
                </a:solidFill>
              </a:rPr>
              <a:t>, </a:t>
            </a:r>
            <a:r>
              <a:rPr lang="en-US" altLang="en-US">
                <a:solidFill>
                  <a:schemeClr val="bg1"/>
                </a:solidFill>
              </a:rPr>
              <a:t>сбор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отображение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статистики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пользователей</a:t>
            </a:r>
            <a:r>
              <a:rPr lang="en-US" altLang="ru-RU">
                <a:solidFill>
                  <a:schemeClr val="bg1"/>
                </a:solidFill>
              </a:rPr>
              <a:t>, </a:t>
            </a:r>
            <a:r>
              <a:rPr lang="en-US" altLang="en-US">
                <a:solidFill>
                  <a:schemeClr val="bg1"/>
                </a:solidFill>
              </a:rPr>
              <a:t>а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также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система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серии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активности</a:t>
            </a:r>
            <a:r>
              <a:rPr lang="en-US" altLang="ru-RU">
                <a:solidFill>
                  <a:schemeClr val="bg1"/>
                </a:solidFill>
              </a:rPr>
              <a:t> (streak). </a:t>
            </a:r>
            <a:r>
              <a:rPr lang="en-US" altLang="en-US">
                <a:solidFill>
                  <a:schemeClr val="bg1"/>
                </a:solidFill>
              </a:rPr>
              <a:t>Проведено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тестирование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основных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функций</a:t>
            </a:r>
            <a:r>
              <a:rPr lang="en-US" altLang="ru-RU">
                <a:solidFill>
                  <a:schemeClr val="bg1"/>
                </a:solidFill>
              </a:rPr>
              <a:t>, </a:t>
            </a:r>
            <a:r>
              <a:rPr lang="en-US" altLang="en-US">
                <a:solidFill>
                  <a:schemeClr val="bg1"/>
                </a:solidFill>
              </a:rPr>
              <a:t>что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подтверждает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корректную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работу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бота</a:t>
            </a:r>
            <a:r>
              <a:rPr lang="en-US" altLang="ru-RU">
                <a:solidFill>
                  <a:schemeClr val="bg1"/>
                </a:solidFill>
              </a:rPr>
              <a:t>. </a:t>
            </a:r>
            <a:r>
              <a:rPr lang="en-US" altLang="en-US">
                <a:solidFill>
                  <a:schemeClr val="bg1"/>
                </a:solidFill>
              </a:rPr>
              <a:t>Цель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проекта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достигнута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002060"/>
            </a:gs>
            <a:gs pos="65000">
              <a:srgbClr val="001728"/>
            </a:gs>
          </a:gsLst>
          <a:lin ang="918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7745" y="2103120"/>
            <a:ext cx="5085715" cy="1325880"/>
          </a:xfrm>
        </p:spPr>
        <p:txBody>
          <a:bodyPr>
            <a:normAutofit fontScale="90000"/>
          </a:bodyPr>
          <a:p>
            <a:r>
              <a:rPr lang="ru-RU" altLang="en-US">
                <a:solidFill>
                  <a:schemeClr val="bg1"/>
                </a:solidFill>
              </a:rPr>
              <a:t>Спасибо за внимание!</a:t>
            </a:r>
            <a:endParaRPr lang="ru-R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49*319"/>
  <p:tag name="TABLE_ENDDRAG_RECT" val="105*112*749*31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2963</Words>
  <Application>WPS Presentation</Application>
  <PresentationFormat>宽屏</PresentationFormat>
  <Paragraphs>123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Lucida Sans Unicode</vt:lpstr>
      <vt:lpstr>Calibri</vt:lpstr>
      <vt:lpstr>Microsoft YaHei</vt:lpstr>
      <vt:lpstr>Arial Unicode MS</vt:lpstr>
      <vt:lpstr>黑体</vt:lpstr>
      <vt:lpstr>Office Theme</vt:lpstr>
      <vt:lpstr>Разработка программных модулей telegram-бота для решения экзаменационных билетов ПДД</vt:lpstr>
      <vt:lpstr>Актуальность</vt:lpstr>
      <vt:lpstr>Цели и задачи</vt:lpstr>
      <vt:lpstr>Функциональные требования</vt:lpstr>
      <vt:lpstr>Сравнение с аналогами</vt:lpstr>
      <vt:lpstr>Архитектура бота</vt:lpstr>
      <vt:lpstr>Используемые технологии</vt:lpstr>
      <vt:lpstr>База данных</vt:lpstr>
      <vt:lpstr>Реализация</vt:lpstr>
      <vt:lpstr>Функция check_streak</vt:lpstr>
      <vt:lpstr>Функция update_streak</vt:lpstr>
      <vt:lpstr>Модульное тестирование</vt:lpstr>
      <vt:lpstr>Модульное тестирование</vt:lpstr>
      <vt:lpstr>Заключение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36</cp:revision>
  <dcterms:created xsi:type="dcterms:W3CDTF">2025-07-23T00:59:00Z</dcterms:created>
  <dcterms:modified xsi:type="dcterms:W3CDTF">2026-03-27T16:29:09Z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E9570D2E314C4FE9B5D2497FAA2293AB_13</vt:lpwstr>
  </property>
</Properties>
</file>